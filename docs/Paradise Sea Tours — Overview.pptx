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5FE1E8"/>
                </a:solidFill>
                <a:latin typeface="Arial"/>
              </a:rPr>
              <a:t>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Arial"/>
              </a:rPr>
              <a:t>Paradise Sea Tours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8686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100" b="0">
                <a:solidFill>
                  <a:srgbClr val="A9C6D4"/>
                </a:solidFill>
                <a:latin typeface="Arial"/>
              </a:rPr>
              <a:t>On-demand boat rides across Nassau, and the four things that run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06243B"/>
                </a:solidFill>
                <a:latin typeface="Arial"/>
              </a:rPr>
              <a:t>The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900" b="0">
                <a:solidFill>
                  <a:srgbClr val="0F2733"/>
                </a:solidFill>
                <a:latin typeface="Arial"/>
              </a:rPr>
              <a:t>A passenger asks for a boat. We find one, agree the price up front, and the captain runs the trip. Fixed fares, no haggling on the dock.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697480"/>
            <a:ext cx="502920" cy="54864"/>
          </a:xfrm>
          <a:prstGeom prst="rect">
            <a:avLst/>
          </a:prstGeom>
          <a:solidFill>
            <a:srgbClr val="0B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926080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BBCD6"/>
                </a:solidFill>
                <a:latin typeface="Arial"/>
              </a:rPr>
              <a:t>WHO IT'S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91840"/>
            <a:ext cx="2514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0F2733"/>
                </a:solidFill>
                <a:latin typeface="Arial"/>
              </a:rPr>
              <a:t>Cruise passengers with a few hours ashore, and locals crossing to Paradise Island, the beaches and the cays.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2697480"/>
            <a:ext cx="502920" cy="54864"/>
          </a:xfrm>
          <a:prstGeom prst="rect">
            <a:avLst/>
          </a:prstGeom>
          <a:solidFill>
            <a:srgbClr val="0B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926080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BBCD6"/>
                </a:solidFill>
                <a:latin typeface="Arial"/>
              </a:rP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291840"/>
            <a:ext cx="2514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0F2733"/>
                </a:solidFill>
                <a:latin typeface="Arial"/>
              </a:rPr>
              <a:t>Book online. We ask a captain. Nothing is promised until a boat has said yes. Then the trip is confirmed and run.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697480"/>
            <a:ext cx="502920" cy="54864"/>
          </a:xfrm>
          <a:prstGeom prst="rect">
            <a:avLst/>
          </a:prstGeom>
          <a:solidFill>
            <a:srgbClr val="0B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926080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BBCD6"/>
                </a:solidFill>
                <a:latin typeface="Arial"/>
              </a:rPr>
              <a:t>HOW IT EARNS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291840"/>
            <a:ext cx="2514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0F2733"/>
                </a:solidFill>
                <a:latin typeface="Arial"/>
              </a:rPr>
              <a:t>A fixed fare per passenger by route. Boats are paid every Friday for the trips they ran that week.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2697480"/>
            <a:ext cx="502920" cy="54864"/>
          </a:xfrm>
          <a:prstGeom prst="rect">
            <a:avLst/>
          </a:prstGeom>
          <a:solidFill>
            <a:srgbClr val="0B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2926080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BBCD6"/>
                </a:solidFill>
                <a:latin typeface="Arial"/>
              </a:rPr>
              <a:t>WHERE IT RUNS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291840"/>
            <a:ext cx="2514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0F2733"/>
                </a:solidFill>
                <a:latin typeface="Arial"/>
              </a:rPr>
              <a:t>Nassau: the cruise port, Paradise Island, Atlantis, Cabbage Beach, Rose Island and the cays. 7am to 10pm.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5577840"/>
            <a:ext cx="10789920" cy="777240"/>
          </a:xfrm>
          <a:prstGeom prst="rect">
            <a:avLst/>
          </a:prstGeom>
          <a:solidFill>
            <a:srgbClr val="F4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76072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F2733"/>
                </a:solidFill>
                <a:latin typeface="Arial"/>
              </a:rPr>
              <a:t>Founded by Shavane Turnquest (Nassau operations, boats) and Jack Lowe (platform).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06243B"/>
                </a:solidFill>
                <a:latin typeface="Arial"/>
              </a:rPr>
              <a:t>Four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>
                <a:solidFill>
                  <a:srgbClr val="5B7688"/>
                </a:solidFill>
                <a:latin typeface="Arial"/>
              </a:rPr>
              <a:t>One for each person in the trip, and one for the office.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103120"/>
            <a:ext cx="2514600" cy="3200400"/>
          </a:xfrm>
          <a:prstGeom prst="rect">
            <a:avLst/>
          </a:prstGeom>
          <a:solidFill>
            <a:srgbClr val="F4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03120"/>
            <a:ext cx="2514600" cy="457200"/>
          </a:xfrm>
          <a:prstGeom prst="rect">
            <a:avLst/>
          </a:prstGeom>
          <a:solidFill>
            <a:srgbClr val="0B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8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  WEBSITE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2057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0F2733"/>
                </a:solidFill>
                <a:latin typeface="Arial"/>
              </a:rPr>
              <a:t>Where a passenger finds us and books. Public, and the only part a stranger ever sees.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2103120"/>
            <a:ext cx="2514600" cy="3200400"/>
          </a:xfrm>
          <a:prstGeom prst="rect">
            <a:avLst/>
          </a:prstGeom>
          <a:solidFill>
            <a:srgbClr val="F4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03120"/>
            <a:ext cx="2514600" cy="457200"/>
          </a:xfrm>
          <a:prstGeom prst="rect">
            <a:avLst/>
          </a:prstGeom>
          <a:solidFill>
            <a:srgbClr val="0A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167128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  PASSENGER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743200"/>
            <a:ext cx="2057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0F2733"/>
                </a:solidFill>
                <a:latin typeface="Arial"/>
              </a:rPr>
              <a:t>The same booking on a phone, plus their own trip page and a way to message the boat.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103120"/>
            <a:ext cx="2514600" cy="3200400"/>
          </a:xfrm>
          <a:prstGeom prst="rect">
            <a:avLst/>
          </a:prstGeom>
          <a:solidFill>
            <a:srgbClr val="F4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103120"/>
            <a:ext cx="2514600" cy="457200"/>
          </a:xfrm>
          <a:prstGeom prst="rect">
            <a:avLst/>
          </a:prstGeom>
          <a:solidFill>
            <a:srgbClr val="0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167128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  CAPTAIN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743200"/>
            <a:ext cx="2057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0F2733"/>
                </a:solidFill>
                <a:latin typeface="Arial"/>
              </a:rPr>
              <a:t>A boat's day: whether he's available, the run he's been offered, and what he's owed.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2103120"/>
            <a:ext cx="2514600" cy="3200400"/>
          </a:xfrm>
          <a:prstGeom prst="rect">
            <a:avLst/>
          </a:prstGeom>
          <a:solidFill>
            <a:srgbClr val="F4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52560" y="2103120"/>
            <a:ext cx="2514600" cy="457200"/>
          </a:xfrm>
          <a:prstGeom prst="rect">
            <a:avLst/>
          </a:prstGeom>
          <a:solidFill>
            <a:srgbClr val="0A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2167128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  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743200"/>
            <a:ext cx="2057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0F2733"/>
                </a:solidFill>
                <a:latin typeface="Arial"/>
              </a:rPr>
              <a:t>The office board. Every booking, every client, every boat, and Friday's payout.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BBCD6"/>
                </a:solidFill>
                <a:latin typeface="Arial"/>
              </a:rPr>
              <a:t>1 —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06243B"/>
                </a:solidFill>
                <a:latin typeface="Arial"/>
              </a:rPr>
              <a:t>Where people find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0700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5B7688"/>
                </a:solidFill>
                <a:latin typeface="Arial"/>
              </a:rPr>
              <a:t>Public, and the only part a stranger ever sees. It says what the trip is, what it costs, and how long it takes — before anyone has to ask.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10145" y="1773936"/>
            <a:ext cx="6771404" cy="4270248"/>
          </a:xfrm>
          <a:prstGeom prst="rect">
            <a:avLst/>
          </a:prstGeom>
          <a:solidFill>
            <a:srgbClr val="D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eb-1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009" y="1828800"/>
            <a:ext cx="6661676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61904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0F2733"/>
                </a:solidFill>
                <a:latin typeface="Arial"/>
              </a:rPr>
              <a:t>The fare is stated up front. No haggling on the dock is the pitch, so the price is on the first screen.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BBCD6"/>
                </a:solidFill>
                <a:latin typeface="Arial"/>
              </a:rPr>
              <a:t>1 —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06243B"/>
                </a:solidFill>
                <a:latin typeface="Arial"/>
              </a:rPr>
              <a:t>Booking, step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0700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5B7688"/>
                </a:solidFill>
                <a:latin typeface="Arial"/>
              </a:rPr>
              <a:t>Pick up, drop off, one way or return, the day, how many people. Every dock is a real Nassau meeting point rather than a free-text box.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10145" y="1773936"/>
            <a:ext cx="6771404" cy="4270248"/>
          </a:xfrm>
          <a:prstGeom prst="rect">
            <a:avLst/>
          </a:prstGeom>
          <a:solidFill>
            <a:srgbClr val="D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eb-2-boo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009" y="1828800"/>
            <a:ext cx="6661676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61904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0F2733"/>
                </a:solidFill>
                <a:latin typeface="Arial"/>
              </a:rPr>
              <a:t>Nothing here asks who they are yet. That comes after they've seen a price.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BBCD6"/>
                </a:solidFill>
                <a:latin typeface="Arial"/>
              </a:rPr>
              <a:t>1 —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06243B"/>
                </a:solidFill>
                <a:latin typeface="Arial"/>
              </a:rPr>
              <a:t>The price, before they commit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0700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5B7688"/>
                </a:solidFill>
                <a:latin typeface="Arial"/>
              </a:rPr>
              <a:t>The fare is worked out live from the published price list as they change the trip, so there is never a surprise later.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10145" y="1773936"/>
            <a:ext cx="6771404" cy="4270248"/>
          </a:xfrm>
          <a:prstGeom prst="rect">
            <a:avLst/>
          </a:prstGeom>
          <a:solidFill>
            <a:srgbClr val="D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eb-3-f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009" y="1828800"/>
            <a:ext cx="6661676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61904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0F2733"/>
                </a:solidFill>
                <a:latin typeface="Arial"/>
              </a:rPr>
              <a:t>"Nothing charged until a captain says yes" is the promise the whole system is built to keep.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BBCD6"/>
                </a:solidFill>
                <a:latin typeface="Arial"/>
              </a:rPr>
              <a:t>1 —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06243B"/>
                </a:solidFill>
                <a:latin typeface="Arial"/>
              </a:rPr>
              <a:t>Who we're holding it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0700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5B7688"/>
                </a:solidFill>
                <a:latin typeface="Arial"/>
              </a:rPr>
              <a:t>Only after the trip is chosen do we ask for a name and number. The trip is shown held above the form so nothing feels lost.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10145" y="1773936"/>
            <a:ext cx="6771404" cy="4270248"/>
          </a:xfrm>
          <a:prstGeom prst="rect">
            <a:avLst/>
          </a:prstGeom>
          <a:solidFill>
            <a:srgbClr val="D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eb-4-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009" y="1828800"/>
            <a:ext cx="6661676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61904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0F2733"/>
                </a:solidFill>
                <a:latin typeface="Arial"/>
              </a:rPr>
              <a:t>Phone numbers are tidied automatically — someone typing 2425550164 gets +1 242 555 0164 without being told off.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BBCD6"/>
                </a:solidFill>
                <a:latin typeface="Arial"/>
              </a:rPr>
              <a:t>1 —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06243B"/>
                </a:solidFill>
                <a:latin typeface="Arial"/>
              </a:rPr>
              <a:t>Routes and fares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0700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5B7688"/>
                </a:solidFill>
                <a:latin typeface="Arial"/>
              </a:rPr>
              <a:t>Fixed prices by route, published. Charters and fishing trips are listed alongside the crossings.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10145" y="1773936"/>
            <a:ext cx="6771404" cy="4270248"/>
          </a:xfrm>
          <a:prstGeom prst="rect">
            <a:avLst/>
          </a:prstGeom>
          <a:solidFill>
            <a:srgbClr val="D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eb-5-fa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009" y="1828800"/>
            <a:ext cx="6661676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61904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0F2733"/>
                </a:solidFill>
                <a:latin typeface="Arial"/>
              </a:rPr>
              <a:t>These are the same prices the booking form and the office board both read from — one list, three places.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BBCD6"/>
                </a:solidFill>
                <a:latin typeface="Arial"/>
              </a:rPr>
              <a:t>2 — PASSENGER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06243B"/>
                </a:solidFill>
                <a:latin typeface="Arial"/>
              </a:rPr>
              <a:t>Booking from a phone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0700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5B7688"/>
                </a:solidFill>
                <a:latin typeface="Arial"/>
              </a:rPr>
              <a:t>The same booking as the website, built for a thumb. Fares update as the trip changes.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876708" y="1764792"/>
            <a:ext cx="2012843" cy="4251960"/>
          </a:xfrm>
          <a:prstGeom prst="rect">
            <a:avLst/>
          </a:prstGeom>
          <a:solidFill>
            <a:srgbClr val="D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x-1-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428" y="1810512"/>
            <a:ext cx="1921403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02388" y="6153912"/>
            <a:ext cx="2561483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F2733"/>
                </a:solidFill>
                <a:latin typeface="Arial"/>
              </a:rPr>
              <a:t>Pick the trip. The price is on the same screen, not a step later.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1031" y="1764792"/>
            <a:ext cx="2013955" cy="4251959"/>
          </a:xfrm>
          <a:prstGeom prst="rect">
            <a:avLst/>
          </a:prstGeom>
          <a:solidFill>
            <a:srgbClr val="D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ax-2-sign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6751" y="1810512"/>
            <a:ext cx="1922515" cy="416051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26711" y="6153911"/>
            <a:ext cx="256259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F2733"/>
                </a:solidFill>
                <a:latin typeface="Arial"/>
              </a:rPr>
              <a:t>Only then does it ask who they are — with the trip held above the form, so nothing feels lost.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BBCD6"/>
                </a:solidFill>
                <a:latin typeface="Arial"/>
              </a:rPr>
              <a:t>2 — PASSENGER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6583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06243B"/>
                </a:solidFill>
                <a:latin typeface="Arial"/>
              </a:rPr>
              <a:t>Their own trip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6035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5B7688"/>
                </a:solidFill>
                <a:latin typeface="Arial"/>
              </a:rPr>
              <a:t>Once booked, a passenger gets a private page: their boat, their captain, the fare, and a message thread with both the boat and the office.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11238" y="448056"/>
            <a:ext cx="2812361" cy="5961888"/>
          </a:xfrm>
          <a:prstGeom prst="rect">
            <a:avLst/>
          </a:prstGeom>
          <a:solidFill>
            <a:srgbClr val="D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x-3-trip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6102" y="502920"/>
            <a:ext cx="2702633" cy="5852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5349240"/>
            <a:ext cx="5852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0F2733"/>
                </a:solidFill>
                <a:latin typeface="Arial"/>
              </a:rPr>
              <a:t>No account needed to open it — the link is the key. And no phone numbers change hands in either direction.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BBCD6"/>
                </a:solidFill>
                <a:latin typeface="Arial"/>
              </a:rPr>
              <a:t>3 — CAPTAIN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06243B"/>
                </a:solidFill>
                <a:latin typeface="Arial"/>
              </a:rPr>
              <a:t>A boat's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0700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5B7688"/>
                </a:solidFill>
                <a:latin typeface="Arial"/>
              </a:rPr>
              <a:t>Built for one hand on a moving boat: big targets, one action at a time, nothing to hunt for.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3877264" y="1764792"/>
            <a:ext cx="2012843" cy="4251960"/>
          </a:xfrm>
          <a:prstGeom prst="rect">
            <a:avLst/>
          </a:prstGeom>
          <a:solidFill>
            <a:srgbClr val="D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p-1-to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984" y="1810512"/>
            <a:ext cx="1921403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02944" y="6153912"/>
            <a:ext cx="2561483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F2733"/>
                </a:solidFill>
                <a:latin typeface="Arial"/>
              </a:rPr>
              <a:t>Available today, what he's earned this week, and the run he's been offered — yes or no.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1587" y="1764792"/>
            <a:ext cx="2012843" cy="4251960"/>
          </a:xfrm>
          <a:prstGeom prst="rect">
            <a:avLst/>
          </a:prstGeom>
          <a:solidFill>
            <a:srgbClr val="D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ap-2-mess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307" y="1810512"/>
            <a:ext cx="1921403" cy="416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27267" y="6153912"/>
            <a:ext cx="2561483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F2733"/>
                </a:solidFill>
                <a:latin typeface="Arial"/>
              </a:rPr>
              <a:t>The passenger thread, with one-tap replies for the things he says most.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BBCD6"/>
                </a:solidFill>
                <a:latin typeface="Arial"/>
              </a:rPr>
              <a:t>3 — CAPTAIN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6583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06243B"/>
                </a:solidFill>
                <a:latin typeface="Arial"/>
              </a:rPr>
              <a:t>What he's owed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6035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5B7688"/>
                </a:solidFill>
                <a:latin typeface="Arial"/>
              </a:rPr>
              <a:t>Run by run, week by week. The same completed trips the office adds up on Friday, shown to the person being paid.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11238" y="448056"/>
            <a:ext cx="2812361" cy="5961888"/>
          </a:xfrm>
          <a:prstGeom prst="rect">
            <a:avLst/>
          </a:prstGeom>
          <a:solidFill>
            <a:srgbClr val="D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p-3-earn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6102" y="502920"/>
            <a:ext cx="2702633" cy="5852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5349240"/>
            <a:ext cx="5852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0F2733"/>
                </a:solidFill>
                <a:latin typeface="Arial"/>
              </a:rPr>
              <a:t>A captain querying a number is pointing at the same figure the office is looking at, which is the point.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BBCD6"/>
                </a:solidFill>
                <a:latin typeface="Arial"/>
              </a:rPr>
              <a:t>4 —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06243B"/>
                </a:solidFill>
                <a:latin typeface="Arial"/>
              </a:rPr>
              <a:t>The 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0700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5B7688"/>
                </a:solidFill>
                <a:latin typeface="Arial"/>
              </a:rPr>
              <a:t>Every booking in one place: who, where, when, which boat, what fare. This is where the day is actually run from.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10145" y="1773936"/>
            <a:ext cx="6771404" cy="4270248"/>
          </a:xfrm>
          <a:prstGeom prst="rect">
            <a:avLst/>
          </a:prstGeom>
          <a:solidFill>
            <a:srgbClr val="D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dmin-1-book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009" y="1828800"/>
            <a:ext cx="6661676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61904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0F2733"/>
                </a:solidFill>
                <a:latin typeface="Arial"/>
              </a:rPr>
              <a:t>A new booking arrives here and on Telegram at the same moment, with the fare already worked out.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BBCD6"/>
                </a:solidFill>
                <a:latin typeface="Arial"/>
              </a:rPr>
              <a:t>4 —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06243B"/>
                </a:solidFill>
                <a:latin typeface="Arial"/>
              </a:rPr>
              <a:t>Talking to a passenger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0700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5B7688"/>
                </a:solidFill>
                <a:latin typeface="Arial"/>
              </a:rPr>
              <a:t>One thread per trip, shared by the passenger, their captain and the office — which replaced WhatsApp entirely.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10145" y="1773936"/>
            <a:ext cx="6771404" cy="4270248"/>
          </a:xfrm>
          <a:prstGeom prst="rect">
            <a:avLst/>
          </a:prstGeom>
          <a:solidFill>
            <a:srgbClr val="D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dmin-2-mess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009" y="1828800"/>
            <a:ext cx="6661676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61904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0F2733"/>
                </a:solidFill>
                <a:latin typeface="Arial"/>
              </a:rPr>
              <a:t>Amber means somebody asked a question nobody has answered yet.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BBCD6"/>
                </a:solidFill>
                <a:latin typeface="Arial"/>
              </a:rPr>
              <a:t>4 —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06243B"/>
                </a:solidFill>
                <a:latin typeface="Arial"/>
              </a:rPr>
              <a:t>Clients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0700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5B7688"/>
                </a:solidFill>
                <a:latin typeface="Arial"/>
              </a:rPr>
              <a:t>Everyone who has ever booked, grouped by phone number, with what they've spent and when they're next out.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10145" y="1773936"/>
            <a:ext cx="6771404" cy="4270248"/>
          </a:xfrm>
          <a:prstGeom prst="rect">
            <a:avLst/>
          </a:prstGeom>
          <a:solidFill>
            <a:srgbClr val="D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dmin-3-cl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009" y="1828800"/>
            <a:ext cx="6661676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61904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0F2733"/>
                </a:solidFill>
                <a:latin typeface="Arial"/>
              </a:rPr>
              <a:t>Someone who books three times is one client, however differently they spelled their name each time.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BBCD6"/>
                </a:solidFill>
                <a:latin typeface="Arial"/>
              </a:rPr>
              <a:t>4 —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06243B"/>
                </a:solidFill>
                <a:latin typeface="Arial"/>
              </a:rPr>
              <a:t>Boats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0700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5B7688"/>
                </a:solidFill>
                <a:latin typeface="Arial"/>
              </a:rPr>
              <a:t>Who is available today and since when, how many runs each has on, and which captains still have no login.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10145" y="1773936"/>
            <a:ext cx="6771404" cy="4270248"/>
          </a:xfrm>
          <a:prstGeom prst="rect">
            <a:avLst/>
          </a:prstGeom>
          <a:solidFill>
            <a:srgbClr val="D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dmin-4-bo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009" y="1828800"/>
            <a:ext cx="6661676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61904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0F2733"/>
                </a:solidFill>
                <a:latin typeface="Arial"/>
              </a:rPr>
              <a:t>A captain who switched himself on yesterday and never off gets flagged, rather than quietly believed.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BBCD6"/>
                </a:solidFill>
                <a:latin typeface="Arial"/>
              </a:rPr>
              <a:t>4 —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06243B"/>
                </a:solidFill>
                <a:latin typeface="Arial"/>
              </a:rPr>
              <a:t>Friday payout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0700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5B7688"/>
                </a:solidFill>
                <a:latin typeface="Arial"/>
              </a:rPr>
              <a:t>What each boat is owed for the week, with the trips behind the number and a record of what's been paid.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10145" y="1773936"/>
            <a:ext cx="6771404" cy="4270248"/>
          </a:xfrm>
          <a:prstGeom prst="rect">
            <a:avLst/>
          </a:prstGeom>
          <a:solidFill>
            <a:srgbClr val="D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dmin-5-p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009" y="1828800"/>
            <a:ext cx="6661676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61904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0F2733"/>
                </a:solidFill>
                <a:latin typeface="Arial"/>
              </a:rPr>
              <a:t>The pay week runs Friday to Thursday and settles the Friday after. Only completed trips count.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